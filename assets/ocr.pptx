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25"/>
  </p:notesMasterIdLst>
  <p:handoutMasterIdLst>
    <p:handoutMasterId r:id="rId26"/>
  </p:handoutMasterIdLst>
  <p:sldIdLst>
    <p:sldId id="256" r:id="rId6"/>
    <p:sldId id="257" r:id="rId7"/>
    <p:sldId id="262" r:id="rId8"/>
    <p:sldId id="263" r:id="rId9"/>
    <p:sldId id="268" r:id="rId10"/>
    <p:sldId id="276" r:id="rId11"/>
    <p:sldId id="273" r:id="rId12"/>
    <p:sldId id="267" r:id="rId13"/>
    <p:sldId id="269" r:id="rId14"/>
    <p:sldId id="274" r:id="rId15"/>
    <p:sldId id="266" r:id="rId16"/>
    <p:sldId id="270" r:id="rId17"/>
    <p:sldId id="271" r:id="rId18"/>
    <p:sldId id="264" r:id="rId19"/>
    <p:sldId id="272" r:id="rId20"/>
    <p:sldId id="275" r:id="rId21"/>
    <p:sldId id="265" r:id="rId22"/>
    <p:sldId id="259" r:id="rId23"/>
    <p:sldId id="258" r:id="rId24"/>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8220"/>
    <a:srgbClr val="006C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476" autoAdjust="0"/>
  </p:normalViewPr>
  <p:slideViewPr>
    <p:cSldViewPr>
      <p:cViewPr varScale="1">
        <p:scale>
          <a:sx n="80" d="100"/>
          <a:sy n="80" d="100"/>
        </p:scale>
        <p:origin x="74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70238" cy="481013"/>
          </a:xfrm>
          <a:prstGeom prst="rect">
            <a:avLst/>
          </a:prstGeom>
        </p:spPr>
        <p:txBody>
          <a:bodyPr vert="horz" lIns="91428" tIns="45714" rIns="91428" bIns="45714" rtlCol="0"/>
          <a:lstStyle>
            <a:lvl1pPr algn="l">
              <a:defRPr sz="1200"/>
            </a:lvl1pPr>
          </a:lstStyle>
          <a:p>
            <a:endParaRPr lang="en-US"/>
          </a:p>
        </p:txBody>
      </p:sp>
      <p:sp>
        <p:nvSpPr>
          <p:cNvPr id="3" name="Date Placeholder 2"/>
          <p:cNvSpPr>
            <a:spLocks noGrp="1"/>
          </p:cNvSpPr>
          <p:nvPr>
            <p:ph type="dt" sz="quarter" idx="1"/>
          </p:nvPr>
        </p:nvSpPr>
        <p:spPr>
          <a:xfrm>
            <a:off x="4143376" y="1"/>
            <a:ext cx="3170238" cy="481013"/>
          </a:xfrm>
          <a:prstGeom prst="rect">
            <a:avLst/>
          </a:prstGeom>
        </p:spPr>
        <p:txBody>
          <a:bodyPr vert="horz" lIns="91428" tIns="45714" rIns="91428" bIns="45714" rtlCol="0"/>
          <a:lstStyle>
            <a:lvl1pPr algn="r">
              <a:defRPr sz="1200"/>
            </a:lvl1pPr>
          </a:lstStyle>
          <a:p>
            <a:fld id="{B4509BE2-895C-43B0-9399-05FE70728456}" type="datetimeFigureOut">
              <a:rPr lang="en-US" smtClean="0"/>
              <a:t>3/18/2016</a:t>
            </a:fld>
            <a:endParaRPr lang="en-US"/>
          </a:p>
        </p:txBody>
      </p:sp>
      <p:sp>
        <p:nvSpPr>
          <p:cNvPr id="4" name="Footer Placeholder 3"/>
          <p:cNvSpPr>
            <a:spLocks noGrp="1"/>
          </p:cNvSpPr>
          <p:nvPr>
            <p:ph type="ftr" sz="quarter" idx="2"/>
          </p:nvPr>
        </p:nvSpPr>
        <p:spPr>
          <a:xfrm>
            <a:off x="0" y="9120189"/>
            <a:ext cx="3170238" cy="481012"/>
          </a:xfrm>
          <a:prstGeom prst="rect">
            <a:avLst/>
          </a:prstGeom>
        </p:spPr>
        <p:txBody>
          <a:bodyPr vert="horz" lIns="91428" tIns="45714" rIns="91428" bIns="45714" rtlCol="0" anchor="b"/>
          <a:lstStyle>
            <a:lvl1pPr algn="l">
              <a:defRPr sz="1200"/>
            </a:lvl1pPr>
          </a:lstStyle>
          <a:p>
            <a:endParaRPr lang="en-US"/>
          </a:p>
        </p:txBody>
      </p:sp>
      <p:sp>
        <p:nvSpPr>
          <p:cNvPr id="5" name="Slide Number Placeholder 4"/>
          <p:cNvSpPr>
            <a:spLocks noGrp="1"/>
          </p:cNvSpPr>
          <p:nvPr>
            <p:ph type="sldNum" sz="quarter" idx="3"/>
          </p:nvPr>
        </p:nvSpPr>
        <p:spPr>
          <a:xfrm>
            <a:off x="4143376" y="9120189"/>
            <a:ext cx="3170238" cy="481012"/>
          </a:xfrm>
          <a:prstGeom prst="rect">
            <a:avLst/>
          </a:prstGeom>
        </p:spPr>
        <p:txBody>
          <a:bodyPr vert="horz" lIns="91428" tIns="45714" rIns="91428" bIns="45714" rtlCol="0" anchor="b"/>
          <a:lstStyle>
            <a:lvl1pPr algn="r">
              <a:defRPr sz="1200"/>
            </a:lvl1pPr>
          </a:lstStyle>
          <a:p>
            <a:fld id="{90551E18-42A6-4130-A05D-4E66E5339663}" type="slidenum">
              <a:rPr lang="en-US" smtClean="0"/>
              <a:t>‹#›</a:t>
            </a:fld>
            <a:endParaRPr lang="en-US"/>
          </a:p>
        </p:txBody>
      </p:sp>
    </p:spTree>
    <p:extLst>
      <p:ext uri="{BB962C8B-B14F-4D97-AF65-F5344CB8AC3E}">
        <p14:creationId xmlns:p14="http://schemas.microsoft.com/office/powerpoint/2010/main" val="4831109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5" rIns="96647" bIns="48325"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47" tIns="48325" rIns="96647" bIns="48325" rtlCol="0"/>
          <a:lstStyle>
            <a:lvl1pPr algn="r">
              <a:defRPr sz="1300"/>
            </a:lvl1pPr>
          </a:lstStyle>
          <a:p>
            <a:fld id="{BFF55148-3D92-4102-954B-735A42D2F75D}" type="datetimeFigureOut">
              <a:rPr lang="en-US" smtClean="0"/>
              <a:t>3/18/2016</a:t>
            </a:fld>
            <a:endParaRPr lang="en-US"/>
          </a:p>
        </p:txBody>
      </p:sp>
      <p:sp>
        <p:nvSpPr>
          <p:cNvPr id="4" name="Slide Image Placeholder 3"/>
          <p:cNvSpPr>
            <a:spLocks noGrp="1" noRot="1" noChangeAspect="1"/>
          </p:cNvSpPr>
          <p:nvPr>
            <p:ph type="sldImg" idx="2"/>
          </p:nvPr>
        </p:nvSpPr>
        <p:spPr>
          <a:xfrm>
            <a:off x="1258888" y="722313"/>
            <a:ext cx="4797425" cy="3597275"/>
          </a:xfrm>
          <a:prstGeom prst="rect">
            <a:avLst/>
          </a:prstGeom>
          <a:noFill/>
          <a:ln w="12700">
            <a:solidFill>
              <a:prstClr val="black"/>
            </a:solidFill>
          </a:ln>
        </p:spPr>
        <p:txBody>
          <a:bodyPr vert="horz" lIns="96647" tIns="48325" rIns="96647" bIns="48325" rtlCol="0" anchor="ctr"/>
          <a:lstStyle/>
          <a:p>
            <a:endParaRPr lang="en-US"/>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6647" tIns="48325" rIns="96647" bIns="4832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47" tIns="48325" rIns="96647" bIns="48325"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47" tIns="48325" rIns="96647" bIns="48325" rtlCol="0" anchor="b"/>
          <a:lstStyle>
            <a:lvl1pPr algn="r">
              <a:defRPr sz="1300"/>
            </a:lvl1pPr>
          </a:lstStyle>
          <a:p>
            <a:fld id="{7D21B0F9-A639-4E2C-B134-B74E302A38C2}" type="slidenum">
              <a:rPr lang="en-US" smtClean="0"/>
              <a:t>‹#›</a:t>
            </a:fld>
            <a:endParaRPr lang="en-US"/>
          </a:p>
        </p:txBody>
      </p:sp>
    </p:spTree>
    <p:extLst>
      <p:ext uri="{BB962C8B-B14F-4D97-AF65-F5344CB8AC3E}">
        <p14:creationId xmlns:p14="http://schemas.microsoft.com/office/powerpoint/2010/main" val="1523179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D21B0F9-A639-4E2C-B134-B74E302A38C2}" type="slidenum">
              <a:rPr lang="en-US" smtClean="0"/>
              <a:t>1</a:t>
            </a:fld>
            <a:endParaRPr lang="en-US"/>
          </a:p>
        </p:txBody>
      </p:sp>
    </p:spTree>
    <p:extLst>
      <p:ext uri="{BB962C8B-B14F-4D97-AF65-F5344CB8AC3E}">
        <p14:creationId xmlns:p14="http://schemas.microsoft.com/office/powerpoint/2010/main" val="5434898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D21B0F9-A639-4E2C-B134-B74E302A38C2}" type="slidenum">
              <a:rPr lang="en-US" smtClean="0"/>
              <a:t>2</a:t>
            </a:fld>
            <a:endParaRPr lang="en-US"/>
          </a:p>
        </p:txBody>
      </p:sp>
    </p:spTree>
    <p:extLst>
      <p:ext uri="{BB962C8B-B14F-4D97-AF65-F5344CB8AC3E}">
        <p14:creationId xmlns:p14="http://schemas.microsoft.com/office/powerpoint/2010/main" val="3161579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21B0F9-A639-4E2C-B134-B74E302A38C2}" type="slidenum">
              <a:rPr lang="en-US" smtClean="0"/>
              <a:t>7</a:t>
            </a:fld>
            <a:endParaRPr lang="en-US"/>
          </a:p>
        </p:txBody>
      </p:sp>
    </p:spTree>
    <p:extLst>
      <p:ext uri="{BB962C8B-B14F-4D97-AF65-F5344CB8AC3E}">
        <p14:creationId xmlns:p14="http://schemas.microsoft.com/office/powerpoint/2010/main" val="911625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Illustration. I know of a case in which a certain large insurance company who shall remain nameless,</a:t>
            </a:r>
            <a:r>
              <a:rPr lang="en-US" baseline="0" dirty="0"/>
              <a:t> </a:t>
            </a:r>
            <a:r>
              <a:rPr lang="en-US" dirty="0"/>
              <a:t>received multiple notifications about their failure to pay a certain claim.</a:t>
            </a:r>
            <a:r>
              <a:rPr lang="en-US" baseline="0" dirty="0"/>
              <a:t>   After multiple letters from various government agencies the Sheriff’s Department arrive one day to begin collecting values in the amount of the claim such as office furniture, desks, computer monitors. Perhaps such urgent letters could have been red flagged in order to prevent such an embarrassment.  </a:t>
            </a:r>
            <a:endParaRPr lang="en-US" dirty="0"/>
          </a:p>
        </p:txBody>
      </p:sp>
      <p:sp>
        <p:nvSpPr>
          <p:cNvPr id="4" name="Slide Number Placeholder 3"/>
          <p:cNvSpPr>
            <a:spLocks noGrp="1"/>
          </p:cNvSpPr>
          <p:nvPr>
            <p:ph type="sldNum" sz="quarter" idx="10"/>
          </p:nvPr>
        </p:nvSpPr>
        <p:spPr/>
        <p:txBody>
          <a:bodyPr/>
          <a:lstStyle/>
          <a:p>
            <a:fld id="{7D21B0F9-A639-4E2C-B134-B74E302A38C2}" type="slidenum">
              <a:rPr lang="en-US" smtClean="0"/>
              <a:t>8</a:t>
            </a:fld>
            <a:endParaRPr lang="en-US"/>
          </a:p>
        </p:txBody>
      </p:sp>
    </p:spTree>
    <p:extLst>
      <p:ext uri="{BB962C8B-B14F-4D97-AF65-F5344CB8AC3E}">
        <p14:creationId xmlns:p14="http://schemas.microsoft.com/office/powerpoint/2010/main" val="813130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Illustration. I know of a case in which a certain large insurance company who shall remain nameless,</a:t>
            </a:r>
            <a:r>
              <a:rPr lang="en-US" baseline="0" dirty="0"/>
              <a:t> </a:t>
            </a:r>
            <a:r>
              <a:rPr lang="en-US" dirty="0"/>
              <a:t>received multiple notifications about their failure to pay a certain claim.</a:t>
            </a:r>
            <a:r>
              <a:rPr lang="en-US" baseline="0" dirty="0"/>
              <a:t>   After multiple letters from various government agencies the Sheriff’s Department arrive one day to begin collecting values in the amount of the claim such as office furniture, desks, computer monitors. Perhaps such urgent letters could have been red flagged in order to prevent such an embarrassment.  </a:t>
            </a:r>
            <a:endParaRPr lang="en-US" dirty="0"/>
          </a:p>
        </p:txBody>
      </p:sp>
      <p:sp>
        <p:nvSpPr>
          <p:cNvPr id="4" name="Slide Number Placeholder 3"/>
          <p:cNvSpPr>
            <a:spLocks noGrp="1"/>
          </p:cNvSpPr>
          <p:nvPr>
            <p:ph type="sldNum" sz="quarter" idx="10"/>
          </p:nvPr>
        </p:nvSpPr>
        <p:spPr/>
        <p:txBody>
          <a:bodyPr/>
          <a:lstStyle/>
          <a:p>
            <a:fld id="{7D21B0F9-A639-4E2C-B134-B74E302A38C2}" type="slidenum">
              <a:rPr lang="en-US" smtClean="0"/>
              <a:t>9</a:t>
            </a:fld>
            <a:endParaRPr lang="en-US"/>
          </a:p>
        </p:txBody>
      </p:sp>
    </p:spTree>
    <p:extLst>
      <p:ext uri="{BB962C8B-B14F-4D97-AF65-F5344CB8AC3E}">
        <p14:creationId xmlns:p14="http://schemas.microsoft.com/office/powerpoint/2010/main" val="2811488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D21B0F9-A639-4E2C-B134-B74E302A38C2}" type="slidenum">
              <a:rPr lang="en-US" smtClean="0"/>
              <a:t>18</a:t>
            </a:fld>
            <a:endParaRPr lang="en-US"/>
          </a:p>
        </p:txBody>
      </p:sp>
    </p:spTree>
    <p:extLst>
      <p:ext uri="{BB962C8B-B14F-4D97-AF65-F5344CB8AC3E}">
        <p14:creationId xmlns:p14="http://schemas.microsoft.com/office/powerpoint/2010/main" val="3906594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D21B0F9-A639-4E2C-B134-B74E302A38C2}" type="slidenum">
              <a:rPr lang="en-US" smtClean="0"/>
              <a:t>19</a:t>
            </a:fld>
            <a:endParaRPr lang="en-US"/>
          </a:p>
        </p:txBody>
      </p:sp>
    </p:spTree>
    <p:extLst>
      <p:ext uri="{BB962C8B-B14F-4D97-AF65-F5344CB8AC3E}">
        <p14:creationId xmlns:p14="http://schemas.microsoft.com/office/powerpoint/2010/main" val="17127373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www.ufcinc.com/"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bluebackground.jpg"/>
          <p:cNvPicPr>
            <a:picLocks noChangeAspect="1"/>
          </p:cNvPicPr>
          <p:nvPr userDrawn="1"/>
        </p:nvPicPr>
        <p:blipFill>
          <a:blip r:embed="rId2" cstate="print"/>
          <a:stretch>
            <a:fillRect/>
          </a:stretch>
        </p:blipFill>
        <p:spPr>
          <a:xfrm>
            <a:off x="0" y="0"/>
            <a:ext cx="9144000" cy="6858000"/>
          </a:xfrm>
          <a:prstGeom prst="rect">
            <a:avLst/>
          </a:prstGeom>
        </p:spPr>
      </p:pic>
      <p:sp>
        <p:nvSpPr>
          <p:cNvPr id="2" name="Title 1"/>
          <p:cNvSpPr>
            <a:spLocks noGrp="1"/>
          </p:cNvSpPr>
          <p:nvPr>
            <p:ph type="ctrTitle"/>
          </p:nvPr>
        </p:nvSpPr>
        <p:spPr>
          <a:xfrm>
            <a:off x="3657600" y="4267200"/>
            <a:ext cx="4953000" cy="476250"/>
          </a:xfrm>
        </p:spPr>
        <p:txBody>
          <a:bodyPr>
            <a:noAutofit/>
          </a:bodyPr>
          <a:lstStyle>
            <a:lvl1pPr algn="l">
              <a:defRPr sz="3600">
                <a:latin typeface="Arial" pitchFamily="34" charset="0"/>
                <a:cs typeface="Arial" pitchFamily="34" charset="0"/>
              </a:defRPr>
            </a:lvl1pPr>
          </a:lstStyle>
          <a:p>
            <a:r>
              <a:rPr lang="en-US" dirty="0"/>
              <a:t>Click to edit Master title style</a:t>
            </a:r>
          </a:p>
        </p:txBody>
      </p:sp>
      <p:sp>
        <p:nvSpPr>
          <p:cNvPr id="3" name="Subtitle 2"/>
          <p:cNvSpPr>
            <a:spLocks noGrp="1"/>
          </p:cNvSpPr>
          <p:nvPr>
            <p:ph type="subTitle" idx="1"/>
          </p:nvPr>
        </p:nvSpPr>
        <p:spPr>
          <a:xfrm>
            <a:off x="3657598" y="5029200"/>
            <a:ext cx="4953001" cy="685800"/>
          </a:xfrm>
        </p:spPr>
        <p:txBody>
          <a:bodyPr>
            <a:normAutofit/>
          </a:bodyPr>
          <a:lstStyle>
            <a:lvl1pPr marL="0" indent="0" algn="l">
              <a:buNone/>
              <a:defRPr sz="2400">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vl1pPr>
          </a:lstStyle>
          <a:p>
            <a:r>
              <a:rPr lang="en-US" dirty="0"/>
              <a:t>March 18, 2016</a:t>
            </a:r>
          </a:p>
        </p:txBody>
      </p:sp>
      <p:sp>
        <p:nvSpPr>
          <p:cNvPr id="5" name="Footer Placeholder 4"/>
          <p:cNvSpPr>
            <a:spLocks noGrp="1"/>
          </p:cNvSpPr>
          <p:nvPr>
            <p:ph type="ftr" sz="quarter" idx="11"/>
          </p:nvPr>
        </p:nvSpPr>
        <p:spPr/>
        <p:txBody>
          <a:bodyPr/>
          <a:lstStyle/>
          <a:p>
            <a:r>
              <a:rPr lang="en-US" dirty="0"/>
              <a:t>User Friendly Consulting, Inc. </a:t>
            </a:r>
          </a:p>
        </p:txBody>
      </p:sp>
      <p:sp>
        <p:nvSpPr>
          <p:cNvPr id="6" name="Slide Number Placeholder 5"/>
          <p:cNvSpPr>
            <a:spLocks noGrp="1"/>
          </p:cNvSpPr>
          <p:nvPr>
            <p:ph type="sldNum" sz="quarter" idx="12"/>
          </p:nvPr>
        </p:nvSpPr>
        <p:spPr/>
        <p:txBody>
          <a:bodyPr/>
          <a:lstStyle/>
          <a:p>
            <a:fld id="{00EEC197-5E49-4429-A718-EC6DB004CCD9}" type="slidenum">
              <a:rPr lang="en-US" smtClean="0"/>
              <a:t>‹#›</a:t>
            </a:fld>
            <a:endParaRPr lang="en-US"/>
          </a:p>
        </p:txBody>
      </p:sp>
      <p:pic>
        <p:nvPicPr>
          <p:cNvPr id="8" name="Picture 7">
            <a:hlinkClick r:id="rId3"/>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11749" y="4419600"/>
            <a:ext cx="2510302" cy="1676400"/>
          </a:xfrm>
          <a:prstGeom prst="rect">
            <a:avLst/>
          </a:prstGeom>
        </p:spPr>
      </p:pic>
      <p:sp>
        <p:nvSpPr>
          <p:cNvPr id="9" name="Rectangle 8"/>
          <p:cNvSpPr/>
          <p:nvPr userDrawn="1"/>
        </p:nvSpPr>
        <p:spPr>
          <a:xfrm>
            <a:off x="0" y="0"/>
            <a:ext cx="9144000" cy="381000"/>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027" name="Picture 3"/>
          <p:cNvPicPr>
            <a:picLocks noChangeAspect="1" noChangeArrowheads="1"/>
          </p:cNvPicPr>
          <p:nvPr userDrawn="1"/>
        </p:nvPicPr>
        <p:blipFill>
          <a:blip r:embed="rId2" cstate="print"/>
          <a:srcRect/>
          <a:stretch>
            <a:fillRect/>
          </a:stretch>
        </p:blipFill>
        <p:spPr bwMode="auto">
          <a:xfrm>
            <a:off x="0" y="0"/>
            <a:ext cx="9144000" cy="1514475"/>
          </a:xfrm>
          <a:prstGeom prst="rect">
            <a:avLst/>
          </a:prstGeom>
          <a:noFill/>
          <a:ln w="9525">
            <a:noFill/>
            <a:miter lim="800000"/>
            <a:headEnd/>
            <a:tailEnd/>
          </a:ln>
        </p:spPr>
      </p:pic>
      <p:sp>
        <p:nvSpPr>
          <p:cNvPr id="2" name="Title 1"/>
          <p:cNvSpPr>
            <a:spLocks noGrp="1"/>
          </p:cNvSpPr>
          <p:nvPr>
            <p:ph type="title"/>
          </p:nvPr>
        </p:nvSpPr>
        <p:spPr/>
        <p:txBody>
          <a:bodyPr>
            <a:normAutofit/>
          </a:bodyPr>
          <a:lstStyle>
            <a:lvl1pPr algn="l">
              <a:defRPr sz="3600">
                <a:latin typeface="Arial" pitchFamily="34" charset="0"/>
                <a:cs typeface="Arial"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2pPr>
              <a:defRPr>
                <a:solidFill>
                  <a:srgbClr val="006CB3"/>
                </a:solidFill>
              </a:defRPr>
            </a:lvl2pPr>
            <a:lvl4pPr>
              <a:defRPr>
                <a:solidFill>
                  <a:srgbClr val="F58220"/>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9DCEEA2-172E-453B-828F-F44DAA57D4FE}" type="datetimeFigureOut">
              <a:rPr lang="en-US" smtClean="0"/>
              <a:t>3/18/2016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EEC197-5E49-4429-A718-EC6DB004CCD9}" type="slidenum">
              <a:rPr lang="en-US" smtClean="0"/>
              <a:t>‹#›</a:t>
            </a:fld>
            <a:endParaRPr lang="en-US"/>
          </a:p>
        </p:txBody>
      </p:sp>
      <p:pic>
        <p:nvPicPr>
          <p:cNvPr id="10" name="Picture 9" descr="UFC-Inc_300.png"/>
          <p:cNvPicPr>
            <a:picLocks noChangeAspect="1"/>
          </p:cNvPicPr>
          <p:nvPr userDrawn="1"/>
        </p:nvPicPr>
        <p:blipFill>
          <a:blip r:embed="rId3" cstate="print"/>
          <a:stretch>
            <a:fillRect/>
          </a:stretch>
        </p:blipFill>
        <p:spPr>
          <a:xfrm>
            <a:off x="7010400" y="304800"/>
            <a:ext cx="1714500" cy="1143000"/>
          </a:xfrm>
          <a:prstGeom prst="rect">
            <a:avLst/>
          </a:prstGeom>
        </p:spPr>
      </p:pic>
      <p:sp>
        <p:nvSpPr>
          <p:cNvPr id="11" name="Rectangle 10"/>
          <p:cNvSpPr/>
          <p:nvPr userDrawn="1"/>
        </p:nvSpPr>
        <p:spPr>
          <a:xfrm>
            <a:off x="0" y="1371600"/>
            <a:ext cx="91440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0" y="6248400"/>
            <a:ext cx="9144000" cy="45719"/>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normAutofit/>
          </a:bodyPr>
          <a:lstStyle>
            <a:lvl1pPr algn="l">
              <a:defRPr sz="3200" b="1" cap="all">
                <a:latin typeface="Arial" pitchFamily="34" charset="0"/>
                <a:cs typeface="Arial" pitchFamily="34" charset="0"/>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9DCEEA2-172E-453B-828F-F44DAA57D4FE}" type="datetimeFigureOut">
              <a:rPr lang="en-US" smtClean="0"/>
              <a:t>3/18/2016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EEC197-5E49-4429-A718-EC6DB004CCD9}" type="slidenum">
              <a:rPr lang="en-US" smtClean="0"/>
              <a:t>‹#›</a:t>
            </a:fld>
            <a:endParaRPr lang="en-US"/>
          </a:p>
        </p:txBody>
      </p:sp>
      <p:pic>
        <p:nvPicPr>
          <p:cNvPr id="2050" name="Picture 2"/>
          <p:cNvPicPr>
            <a:picLocks noChangeAspect="1" noChangeArrowheads="1"/>
          </p:cNvPicPr>
          <p:nvPr userDrawn="1"/>
        </p:nvPicPr>
        <p:blipFill>
          <a:blip r:embed="rId2" cstate="print"/>
          <a:srcRect/>
          <a:stretch>
            <a:fillRect/>
          </a:stretch>
        </p:blipFill>
        <p:spPr bwMode="auto">
          <a:xfrm>
            <a:off x="0" y="0"/>
            <a:ext cx="9144000" cy="3276600"/>
          </a:xfrm>
          <a:prstGeom prst="rect">
            <a:avLst/>
          </a:prstGeom>
          <a:noFill/>
          <a:ln w="9525">
            <a:noFill/>
            <a:miter lim="800000"/>
            <a:headEnd/>
            <a:tailEnd/>
          </a:ln>
        </p:spPr>
      </p:pic>
      <p:pic>
        <p:nvPicPr>
          <p:cNvPr id="8" name="Picture 7" descr="UFC-Inc_300.png"/>
          <p:cNvPicPr>
            <a:picLocks noChangeAspect="1"/>
          </p:cNvPicPr>
          <p:nvPr userDrawn="1"/>
        </p:nvPicPr>
        <p:blipFill>
          <a:blip r:embed="rId3" cstate="print"/>
          <a:stretch>
            <a:fillRect/>
          </a:stretch>
        </p:blipFill>
        <p:spPr>
          <a:xfrm>
            <a:off x="7162800" y="5410200"/>
            <a:ext cx="1485900" cy="9906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3"/>
          <p:cNvPicPr>
            <a:picLocks noChangeAspect="1" noChangeArrowheads="1"/>
          </p:cNvPicPr>
          <p:nvPr userDrawn="1"/>
        </p:nvPicPr>
        <p:blipFill>
          <a:blip r:embed="rId2" cstate="print"/>
          <a:srcRect/>
          <a:stretch>
            <a:fillRect/>
          </a:stretch>
        </p:blipFill>
        <p:spPr bwMode="auto">
          <a:xfrm>
            <a:off x="0" y="0"/>
            <a:ext cx="9144000" cy="1514475"/>
          </a:xfrm>
          <a:prstGeom prst="rect">
            <a:avLst/>
          </a:prstGeom>
          <a:noFill/>
          <a:ln w="9525">
            <a:noFill/>
            <a:miter lim="800000"/>
            <a:headEnd/>
            <a:tailEnd/>
          </a:ln>
        </p:spPr>
      </p:pic>
      <p:sp>
        <p:nvSpPr>
          <p:cNvPr id="2" name="Title 1"/>
          <p:cNvSpPr>
            <a:spLocks noGrp="1"/>
          </p:cNvSpPr>
          <p:nvPr>
            <p:ph type="title"/>
          </p:nvPr>
        </p:nvSpPr>
        <p:spPr/>
        <p:txBody>
          <a:bodyPr>
            <a:normAutofit/>
          </a:bodyPr>
          <a:lstStyle>
            <a:lvl1pPr algn="l">
              <a:defRPr sz="4000"/>
            </a:lvl1p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DCEEA2-172E-453B-828F-F44DAA57D4FE}" type="datetimeFigureOut">
              <a:rPr lang="en-US" smtClean="0"/>
              <a:t>3/18/2016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EEC197-5E49-4429-A718-EC6DB004CCD9}" type="slidenum">
              <a:rPr lang="en-US" smtClean="0"/>
              <a:t>‹#›</a:t>
            </a:fld>
            <a:endParaRPr lang="en-US"/>
          </a:p>
        </p:txBody>
      </p:sp>
      <p:pic>
        <p:nvPicPr>
          <p:cNvPr id="9" name="Picture 8" descr="UFC-Inc_300.png"/>
          <p:cNvPicPr>
            <a:picLocks noChangeAspect="1"/>
          </p:cNvPicPr>
          <p:nvPr userDrawn="1"/>
        </p:nvPicPr>
        <p:blipFill>
          <a:blip r:embed="rId3" cstate="print"/>
          <a:stretch>
            <a:fillRect/>
          </a:stretch>
        </p:blipFill>
        <p:spPr>
          <a:xfrm>
            <a:off x="7010400" y="304800"/>
            <a:ext cx="1714500" cy="1143000"/>
          </a:xfrm>
          <a:prstGeom prst="rect">
            <a:avLst/>
          </a:prstGeom>
        </p:spPr>
      </p:pic>
      <p:sp>
        <p:nvSpPr>
          <p:cNvPr id="10" name="Rectangle 9"/>
          <p:cNvSpPr/>
          <p:nvPr userDrawn="1"/>
        </p:nvSpPr>
        <p:spPr>
          <a:xfrm>
            <a:off x="0" y="1371600"/>
            <a:ext cx="91440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userDrawn="1"/>
        </p:nvSpPr>
        <p:spPr>
          <a:xfrm>
            <a:off x="0" y="6248400"/>
            <a:ext cx="9144000" cy="45719"/>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3"/>
          <p:cNvPicPr>
            <a:picLocks noChangeAspect="1" noChangeArrowheads="1"/>
          </p:cNvPicPr>
          <p:nvPr userDrawn="1"/>
        </p:nvPicPr>
        <p:blipFill>
          <a:blip r:embed="rId2" cstate="print"/>
          <a:srcRect/>
          <a:stretch>
            <a:fillRect/>
          </a:stretch>
        </p:blipFill>
        <p:spPr bwMode="auto">
          <a:xfrm>
            <a:off x="0" y="0"/>
            <a:ext cx="9144000" cy="1514475"/>
          </a:xfrm>
          <a:prstGeom prst="rect">
            <a:avLst/>
          </a:prstGeom>
          <a:noFill/>
          <a:ln w="9525">
            <a:noFill/>
            <a:miter lim="800000"/>
            <a:headEnd/>
            <a:tailEnd/>
          </a:ln>
        </p:spPr>
      </p:pic>
      <p:sp>
        <p:nvSpPr>
          <p:cNvPr id="2" name="Title 1"/>
          <p:cNvSpPr>
            <a:spLocks noGrp="1"/>
          </p:cNvSpPr>
          <p:nvPr>
            <p:ph type="title"/>
          </p:nvPr>
        </p:nvSpPr>
        <p:spPr/>
        <p:txBody>
          <a:bodyPr>
            <a:normAutofit/>
          </a:bodyPr>
          <a:lstStyle>
            <a:lvl1pPr algn="l">
              <a:defRPr sz="4000"/>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9DCEEA2-172E-453B-828F-F44DAA57D4FE}" type="datetimeFigureOut">
              <a:rPr lang="en-US" smtClean="0"/>
              <a:t>3/18/2016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EEC197-5E49-4429-A718-EC6DB004CCD9}" type="slidenum">
              <a:rPr lang="en-US" smtClean="0"/>
              <a:t>‹#›</a:t>
            </a:fld>
            <a:endParaRPr lang="en-US"/>
          </a:p>
        </p:txBody>
      </p:sp>
      <p:pic>
        <p:nvPicPr>
          <p:cNvPr id="11" name="Picture 10" descr="UFC-Inc_300.png"/>
          <p:cNvPicPr>
            <a:picLocks noChangeAspect="1"/>
          </p:cNvPicPr>
          <p:nvPr userDrawn="1"/>
        </p:nvPicPr>
        <p:blipFill>
          <a:blip r:embed="rId3" cstate="print"/>
          <a:stretch>
            <a:fillRect/>
          </a:stretch>
        </p:blipFill>
        <p:spPr>
          <a:xfrm>
            <a:off x="7010400" y="304800"/>
            <a:ext cx="1714500" cy="1143000"/>
          </a:xfrm>
          <a:prstGeom prst="rect">
            <a:avLst/>
          </a:prstGeom>
        </p:spPr>
      </p:pic>
      <p:sp>
        <p:nvSpPr>
          <p:cNvPr id="12" name="Rectangle 11"/>
          <p:cNvSpPr/>
          <p:nvPr userDrawn="1"/>
        </p:nvSpPr>
        <p:spPr>
          <a:xfrm>
            <a:off x="0" y="1371600"/>
            <a:ext cx="91440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userDrawn="1"/>
        </p:nvSpPr>
        <p:spPr>
          <a:xfrm>
            <a:off x="0" y="6248400"/>
            <a:ext cx="9144000" cy="45719"/>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9DCEEA2-172E-453B-828F-F44DAA57D4FE}" type="datetimeFigureOut">
              <a:rPr lang="en-US" smtClean="0"/>
              <a:t>3/18/2016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EEC197-5E49-4429-A718-EC6DB004CCD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DCEEA2-172E-453B-828F-F44DAA57D4FE}" type="datetimeFigureOut">
              <a:rPr lang="en-US" smtClean="0"/>
              <a:t>3/18/2016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EEC197-5E49-4429-A718-EC6DB004CCD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9DCEEA2-172E-453B-828F-F44DAA57D4FE}" type="datetimeFigureOut">
              <a:rPr lang="en-US" smtClean="0"/>
              <a:t>3/18/2016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EEC197-5E49-4429-A718-EC6DB004CCD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9DCEEA2-172E-453B-828F-F44DAA57D4FE}" type="datetimeFigureOut">
              <a:rPr lang="en-US" smtClean="0"/>
              <a:t>3/18/2016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EEC197-5E49-4429-A718-EC6DB004CCD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DCEEA2-172E-453B-828F-F44DAA57D4FE}" type="datetimeFigureOut">
              <a:rPr lang="en-US" smtClean="0"/>
              <a:t>3/18/2016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EEC197-5E49-4429-A718-EC6DB004CCD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DCEEA2-172E-453B-828F-F44DAA57D4FE}" type="datetimeFigureOut">
              <a:rPr lang="en-US" smtClean="0"/>
              <a:t>3/18/2016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EEC197-5E49-4429-A718-EC6DB004CCD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DCEEA2-172E-453B-828F-F44DAA57D4FE}" type="datetimeFigureOut">
              <a:rPr lang="en-US" smtClean="0"/>
              <a:t>3/18/2016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EEC197-5E49-4429-A718-EC6DB004CCD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jim@ufcinc.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1.gif"/><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www.ufcinc.com/" TargetMode="External"/><Relationship Id="rId4" Type="http://schemas.openxmlformats.org/officeDocument/2006/relationships/hyperlink" Target="mailto:jim@ufcinc.com"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State of and Trends in OCR Technology</a:t>
            </a:r>
          </a:p>
        </p:txBody>
      </p:sp>
      <p:sp>
        <p:nvSpPr>
          <p:cNvPr id="3" name="Subtitle 2"/>
          <p:cNvSpPr>
            <a:spLocks noGrp="1"/>
          </p:cNvSpPr>
          <p:nvPr>
            <p:ph type="subTitle" idx="1"/>
          </p:nvPr>
        </p:nvSpPr>
        <p:spPr>
          <a:xfrm>
            <a:off x="3657598" y="5029200"/>
            <a:ext cx="4953002" cy="1600200"/>
          </a:xfrm>
        </p:spPr>
        <p:txBody>
          <a:bodyPr>
            <a:normAutofit/>
          </a:bodyPr>
          <a:lstStyle/>
          <a:p>
            <a:r>
              <a:rPr lang="en-US" dirty="0"/>
              <a:t>By Jim Hill, Solutions Specialist</a:t>
            </a:r>
          </a:p>
          <a:p>
            <a:r>
              <a:rPr lang="en-US" dirty="0"/>
              <a:t>       </a:t>
            </a:r>
            <a:r>
              <a:rPr lang="en-US" dirty="0">
                <a:hlinkClick r:id="rId3"/>
              </a:rPr>
              <a:t>jim@ufcinc.com</a:t>
            </a:r>
            <a:endParaRPr lang="en-US" dirty="0"/>
          </a:p>
          <a:p>
            <a:r>
              <a:rPr lang="en-US" dirty="0"/>
              <a:t>      @jimhill100</a:t>
            </a:r>
          </a:p>
        </p:txBody>
      </p:sp>
      <p:sp>
        <p:nvSpPr>
          <p:cNvPr id="4" name="TextBox 3"/>
          <p:cNvSpPr txBox="1"/>
          <p:nvPr/>
        </p:nvSpPr>
        <p:spPr>
          <a:xfrm>
            <a:off x="1066800" y="1219200"/>
            <a:ext cx="6934200" cy="1446550"/>
          </a:xfrm>
          <a:prstGeom prst="rect">
            <a:avLst/>
          </a:prstGeom>
          <a:noFill/>
        </p:spPr>
        <p:txBody>
          <a:bodyPr wrap="square" rtlCol="0">
            <a:spAutoFit/>
          </a:bodyPr>
          <a:lstStyle/>
          <a:p>
            <a:r>
              <a:rPr lang="en-US" sz="4400" dirty="0"/>
              <a:t>MMDP</a:t>
            </a:r>
            <a:br>
              <a:rPr lang="en-US" sz="4400" dirty="0"/>
            </a:br>
            <a:r>
              <a:rPr lang="en-US" sz="4400" dirty="0"/>
              <a:t>Spring 2016 Meeting</a:t>
            </a: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11371" y="6014677"/>
            <a:ext cx="330223" cy="330223"/>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62913" y="5562599"/>
            <a:ext cx="457200" cy="4572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Content Placeholder 2"/>
          <p:cNvSpPr>
            <a:spLocks noGrp="1"/>
          </p:cNvSpPr>
          <p:nvPr>
            <p:ph idx="1"/>
          </p:nvPr>
        </p:nvSpPr>
        <p:spPr/>
        <p:txBody>
          <a:bodyPr>
            <a:normAutofit/>
          </a:bodyPr>
          <a:lstStyle/>
          <a:p>
            <a:pPr lvl="0"/>
            <a:endParaRPr lang="en-US" dirty="0"/>
          </a:p>
          <a:p>
            <a:pPr marL="571500" lvl="0" indent="-571500">
              <a:buFont typeface="+mj-lt"/>
              <a:buAutoNum type="romanUcPeriod"/>
            </a:pPr>
            <a:r>
              <a:rPr lang="en-US" dirty="0"/>
              <a:t>Definition of Optical Character Recognition (OCR) Software</a:t>
            </a:r>
          </a:p>
          <a:p>
            <a:pPr marL="571500" lvl="0" indent="-571500">
              <a:buFont typeface="+mj-lt"/>
              <a:buAutoNum type="romanUcPeriod"/>
            </a:pPr>
            <a:r>
              <a:rPr lang="en-US" dirty="0"/>
              <a:t>Current State of OCR Technology</a:t>
            </a:r>
          </a:p>
          <a:p>
            <a:pPr marL="571500" indent="-571500">
              <a:buFont typeface="+mj-lt"/>
              <a:buAutoNum type="romanUcPeriod"/>
            </a:pPr>
            <a:r>
              <a:rPr lang="en-US" dirty="0"/>
              <a:t>Challenges with OCR Technology</a:t>
            </a:r>
          </a:p>
          <a:p>
            <a:pPr marL="571500" lvl="0" indent="-571500">
              <a:buFont typeface="+mj-lt"/>
              <a:buAutoNum type="romanUcPeriod"/>
            </a:pPr>
            <a:r>
              <a:rPr lang="en-US" dirty="0"/>
              <a:t>Current Trends in OCR</a:t>
            </a:r>
          </a:p>
          <a:p>
            <a:pPr marL="571500" lvl="0" indent="-571500">
              <a:buFont typeface="+mj-lt"/>
              <a:buAutoNum type="romanUcPeriod"/>
            </a:pPr>
            <a:r>
              <a:rPr lang="en-US" dirty="0"/>
              <a:t>Brief Recap</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a:t>I. Definition of Optical Character Recognition (OCR) Software</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a:t>Definition:  “Electronic conversion of images of typed, handwritten or printed text into machine-encoded text” (Wikipedia). </a:t>
            </a:r>
          </a:p>
          <a:p>
            <a:r>
              <a:rPr lang="en-US" dirty="0"/>
              <a:t>This definition includes ICR (intelligent character recognition) for handwriting recognition.</a:t>
            </a:r>
          </a:p>
          <a:p>
            <a:r>
              <a:rPr lang="en-US" dirty="0"/>
              <a:t>Some closely related technologies are important to consider and </a:t>
            </a:r>
            <a:r>
              <a:rPr lang="en-US" dirty="0" smtClean="0"/>
              <a:t>included </a:t>
            </a:r>
            <a:r>
              <a:rPr lang="en-US" dirty="0"/>
              <a:t>in the OCR category:</a:t>
            </a:r>
          </a:p>
          <a:p>
            <a:pPr lvl="1"/>
            <a:r>
              <a:rPr lang="en-US" dirty="0"/>
              <a:t>OMR (Optical Mark Recognition), checkmarks and signature presence </a:t>
            </a:r>
          </a:p>
          <a:p>
            <a:pPr lvl="1"/>
            <a:r>
              <a:rPr lang="en-US" dirty="0"/>
              <a:t>Barcode Recognition in all their various 1-d and 2-d forms </a:t>
            </a:r>
          </a:p>
        </p:txBody>
      </p:sp>
    </p:spTree>
    <p:extLst>
      <p:ext uri="{BB962C8B-B14F-4D97-AF65-F5344CB8AC3E}">
        <p14:creationId xmlns:p14="http://schemas.microsoft.com/office/powerpoint/2010/main" val="1405668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a:t>II. Current State of OCR Technology</a:t>
            </a:r>
            <a:br>
              <a:rPr lang="en-US" dirty="0"/>
            </a:br>
            <a:endParaRPr lang="en-US" dirty="0"/>
          </a:p>
        </p:txBody>
      </p:sp>
      <p:sp>
        <p:nvSpPr>
          <p:cNvPr id="3" name="Content Placeholder 2"/>
          <p:cNvSpPr>
            <a:spLocks noGrp="1"/>
          </p:cNvSpPr>
          <p:nvPr>
            <p:ph idx="1"/>
          </p:nvPr>
        </p:nvSpPr>
        <p:spPr/>
        <p:txBody>
          <a:bodyPr vert="horz" lIns="91440" tIns="45720" rIns="91440" bIns="45720" rtlCol="0" anchor="t">
            <a:normAutofit fontScale="85000" lnSpcReduction="20000"/>
          </a:bodyPr>
          <a:lstStyle/>
          <a:p>
            <a:pPr marL="0" indent="0">
              <a:buNone/>
            </a:pPr>
            <a:r>
              <a:rPr lang="en-US" dirty="0"/>
              <a:t>Where are we with OCR software in 2016?</a:t>
            </a:r>
          </a:p>
          <a:p>
            <a:r>
              <a:rPr lang="en-US" dirty="0"/>
              <a:t>Small group of mature software OCR engine suppliers.</a:t>
            </a:r>
          </a:p>
          <a:p>
            <a:pPr lvl="1"/>
            <a:r>
              <a:rPr lang="en-US" dirty="0"/>
              <a:t>Release level 10.x and above</a:t>
            </a:r>
          </a:p>
          <a:p>
            <a:pPr lvl="1"/>
            <a:r>
              <a:rPr lang="en-US" dirty="0"/>
              <a:t>Several company's products are considered a commodity, especially within government</a:t>
            </a:r>
          </a:p>
          <a:p>
            <a:r>
              <a:rPr lang="en-US" dirty="0"/>
              <a:t>Commercial products include advanced feature sets as standard. </a:t>
            </a:r>
          </a:p>
          <a:p>
            <a:pPr lvl="1"/>
            <a:r>
              <a:rPr lang="en-US" dirty="0" smtClean="0"/>
              <a:t>De-speckle, </a:t>
            </a:r>
            <a:r>
              <a:rPr lang="en-US" dirty="0"/>
              <a:t>De-skew, </a:t>
            </a:r>
            <a:r>
              <a:rPr lang="en-US" dirty="0" err="1"/>
              <a:t>Binarization</a:t>
            </a:r>
            <a:r>
              <a:rPr lang="en-US" dirty="0"/>
              <a:t> (convert color to b/w), line removal (from book spines and copy machines), multi-language including RTL, scripting of processing variables, wide variety of input sources (scanning, watched network folders, monitor SharePoint Server library, email attachments and message body text), on and on . . .</a:t>
            </a:r>
          </a:p>
        </p:txBody>
      </p:sp>
    </p:spTree>
    <p:extLst>
      <p:ext uri="{BB962C8B-B14F-4D97-AF65-F5344CB8AC3E}">
        <p14:creationId xmlns:p14="http://schemas.microsoft.com/office/powerpoint/2010/main" val="3976064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a:t>II. Current State of OCR Technology</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r>
              <a:rPr lang="en-US" dirty="0"/>
              <a:t>Poor functionality and choices in open source alternatives. </a:t>
            </a:r>
          </a:p>
          <a:p>
            <a:pPr lvl="1"/>
            <a:r>
              <a:rPr lang="en-US" dirty="0"/>
              <a:t>Possibilities include Tesseract, Google OCR (cloud-based), Cuneiform</a:t>
            </a:r>
          </a:p>
          <a:p>
            <a:pPr lvl="1"/>
            <a:r>
              <a:rPr lang="en-US" dirty="0"/>
              <a:t>Main reason is the commercial vendors </a:t>
            </a:r>
            <a:r>
              <a:rPr lang="en-US" dirty="0" smtClean="0"/>
              <a:t>aren’t sharing their proprietary technology! The need </a:t>
            </a:r>
            <a:r>
              <a:rPr lang="en-US" dirty="0"/>
              <a:t>to recoup their investment </a:t>
            </a:r>
            <a:r>
              <a:rPr lang="en-US" dirty="0" smtClean="0"/>
              <a:t>costs - scientists </a:t>
            </a:r>
            <a:r>
              <a:rPr lang="en-US" dirty="0"/>
              <a:t>and mathematicians are expensive. Also, globalization drove need for many more </a:t>
            </a:r>
            <a:r>
              <a:rPr lang="en-US" dirty="0" smtClean="0"/>
              <a:t>languages which was expensive. </a:t>
            </a:r>
            <a:r>
              <a:rPr lang="en-US" dirty="0"/>
              <a:t>Finally, applications of OCR technology became much more </a:t>
            </a:r>
            <a:r>
              <a:rPr lang="en-US" dirty="0" smtClean="0"/>
              <a:t>numerous which was profitable.</a:t>
            </a:r>
            <a:endParaRPr lang="en-US" dirty="0"/>
          </a:p>
          <a:p>
            <a:pPr lvl="1"/>
            <a:r>
              <a:rPr lang="en-US" dirty="0"/>
              <a:t>Open source lends itself well to a need for simple OCR extraction from perfect, constant form documents.</a:t>
            </a:r>
          </a:p>
          <a:p>
            <a:pPr lvl="1"/>
            <a:r>
              <a:rPr lang="en-US" dirty="0"/>
              <a:t>ICR and OMR options are extremely </a:t>
            </a:r>
            <a:r>
              <a:rPr lang="en-US" dirty="0" smtClean="0"/>
              <a:t>limited in the open source world.</a:t>
            </a:r>
            <a:endParaRPr lang="en-US" dirty="0"/>
          </a:p>
        </p:txBody>
      </p:sp>
    </p:spTree>
    <p:extLst>
      <p:ext uri="{BB962C8B-B14F-4D97-AF65-F5344CB8AC3E}">
        <p14:creationId xmlns:p14="http://schemas.microsoft.com/office/powerpoint/2010/main" val="3288092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t>II. Current State of OCR Technology</a:t>
            </a:r>
            <a:r>
              <a:rPr lang="en-US" dirty="0"/>
              <a:t/>
            </a:r>
            <a:br>
              <a:rPr lang="en-US" dirty="0"/>
            </a:br>
            <a:endParaRPr lang="en-US"/>
          </a:p>
        </p:txBody>
      </p:sp>
      <p:sp>
        <p:nvSpPr>
          <p:cNvPr id="3" name="Content Placeholder 2"/>
          <p:cNvSpPr>
            <a:spLocks noGrp="1"/>
          </p:cNvSpPr>
          <p:nvPr>
            <p:ph sz="half" idx="1"/>
          </p:nvPr>
        </p:nvSpPr>
        <p:spPr>
          <a:xfrm>
            <a:off x="457200" y="1600200"/>
            <a:ext cx="7848600" cy="4525963"/>
          </a:xfrm>
        </p:spPr>
        <p:txBody>
          <a:bodyPr>
            <a:normAutofit fontScale="92500" lnSpcReduction="20000"/>
          </a:bodyPr>
          <a:lstStyle/>
          <a:p>
            <a:pPr marL="0" indent="0">
              <a:buNone/>
            </a:pPr>
            <a:r>
              <a:rPr lang="en-US" dirty="0"/>
              <a:t>Main Commercial Players in OCR Technology:</a:t>
            </a:r>
          </a:p>
          <a:p>
            <a:r>
              <a:rPr lang="en-US" dirty="0"/>
              <a:t>ABBYY</a:t>
            </a:r>
          </a:p>
          <a:p>
            <a:r>
              <a:rPr lang="en-US" dirty="0"/>
              <a:t>Nuance</a:t>
            </a:r>
          </a:p>
          <a:p>
            <a:r>
              <a:rPr lang="en-US" dirty="0" err="1"/>
              <a:t>Recostar</a:t>
            </a:r>
            <a:r>
              <a:rPr lang="en-US" dirty="0"/>
              <a:t> (owned by EMC)</a:t>
            </a:r>
          </a:p>
          <a:p>
            <a:r>
              <a:rPr lang="en-US" dirty="0" err="1"/>
              <a:t>Readsoft</a:t>
            </a:r>
            <a:endParaRPr lang="en-US" dirty="0"/>
          </a:p>
          <a:p>
            <a:r>
              <a:rPr lang="en-US" dirty="0"/>
              <a:t>IRIS</a:t>
            </a:r>
          </a:p>
          <a:p>
            <a:pPr marL="0" indent="0">
              <a:buNone/>
            </a:pPr>
            <a:r>
              <a:rPr lang="en-US" dirty="0"/>
              <a:t>Smaller </a:t>
            </a:r>
            <a:r>
              <a:rPr lang="en-US" dirty="0" smtClean="0"/>
              <a:t>Players Include:</a:t>
            </a:r>
            <a:endParaRPr lang="en-US" dirty="0"/>
          </a:p>
          <a:p>
            <a:r>
              <a:rPr lang="en-US" dirty="0"/>
              <a:t>TOCR</a:t>
            </a:r>
          </a:p>
          <a:p>
            <a:r>
              <a:rPr lang="en-US" dirty="0" err="1"/>
              <a:t>AnyDoc</a:t>
            </a:r>
            <a:endParaRPr lang="en-US" dirty="0"/>
          </a:p>
          <a:p>
            <a:r>
              <a:rPr lang="en-US" dirty="0" err="1"/>
              <a:t>Nicomsoft</a:t>
            </a:r>
            <a:endParaRPr lang="en-US" dirty="0"/>
          </a:p>
          <a:p>
            <a:r>
              <a:rPr lang="en-US" dirty="0" err="1"/>
              <a:t>Leadtools</a:t>
            </a:r>
            <a:endParaRPr lang="en-US" dirty="0"/>
          </a:p>
          <a:p>
            <a:endParaRPr lang="en-US" dirty="0"/>
          </a:p>
        </p:txBody>
      </p:sp>
    </p:spTree>
    <p:extLst>
      <p:ext uri="{BB962C8B-B14F-4D97-AF65-F5344CB8AC3E}">
        <p14:creationId xmlns:p14="http://schemas.microsoft.com/office/powerpoint/2010/main" val="18488079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a:t>II. Current State of OCR Technology</a:t>
            </a:r>
            <a:br>
              <a:rPr lang="en-US" dirty="0"/>
            </a:br>
            <a:endParaRPr lang="en-US" dirty="0"/>
          </a:p>
        </p:txBody>
      </p:sp>
      <p:sp>
        <p:nvSpPr>
          <p:cNvPr id="3" name="Content Placeholder 2"/>
          <p:cNvSpPr>
            <a:spLocks noGrp="1"/>
          </p:cNvSpPr>
          <p:nvPr>
            <p:ph idx="1"/>
          </p:nvPr>
        </p:nvSpPr>
        <p:spPr>
          <a:xfrm>
            <a:off x="457200" y="1600200"/>
            <a:ext cx="6934200" cy="4525963"/>
          </a:xfrm>
        </p:spPr>
        <p:txBody>
          <a:bodyPr>
            <a:normAutofit fontScale="92500" lnSpcReduction="10000"/>
          </a:bodyPr>
          <a:lstStyle/>
          <a:p>
            <a:r>
              <a:rPr lang="en-US" dirty="0"/>
              <a:t>Important to remember the large difference between </a:t>
            </a:r>
            <a:r>
              <a:rPr lang="en-US" dirty="0" smtClean="0"/>
              <a:t>OCR </a:t>
            </a:r>
            <a:r>
              <a:rPr lang="en-US" u="sng" dirty="0"/>
              <a:t>engines</a:t>
            </a:r>
            <a:r>
              <a:rPr lang="en-US" dirty="0"/>
              <a:t> versus OCR </a:t>
            </a:r>
            <a:r>
              <a:rPr lang="en-US" u="sng" dirty="0"/>
              <a:t>applications</a:t>
            </a:r>
            <a:r>
              <a:rPr lang="en-US" dirty="0"/>
              <a:t>. </a:t>
            </a:r>
          </a:p>
          <a:p>
            <a:pPr lvl="1"/>
            <a:r>
              <a:rPr lang="en-US" dirty="0"/>
              <a:t>OCR engines are mature technology which use SDK’s to create applications. This is BCG Growth Share “cash cow”. </a:t>
            </a:r>
            <a:br>
              <a:rPr lang="en-US" dirty="0"/>
            </a:br>
            <a:endParaRPr lang="en-US" dirty="0"/>
          </a:p>
          <a:p>
            <a:pPr lvl="1"/>
            <a:r>
              <a:rPr lang="en-US" dirty="0"/>
              <a:t>OCR applications are an emerging field in which OCR engines are utilized to create applications such as invoice processing systems.  This is the BCG “rising star.”</a:t>
            </a:r>
          </a:p>
        </p:txBody>
      </p:sp>
      <p:pic>
        <p:nvPicPr>
          <p:cNvPr id="4" name="Picture 3" descr="フリーイラスト素材] クリップアート, 牛 / ウシ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00324" y="3271469"/>
            <a:ext cx="1179444" cy="768251"/>
          </a:xfrm>
          <a:prstGeom prst="rect">
            <a:avLst/>
          </a:prstGeom>
        </p:spPr>
      </p:pic>
      <p:pic>
        <p:nvPicPr>
          <p:cNvPr id="5" name="Picture 4" descr="Star | Free Stock Photo | Illustration of a gold star | # 1516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47689" y="4572000"/>
            <a:ext cx="1179444" cy="1179444"/>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50989" y="1609645"/>
            <a:ext cx="1640433" cy="1458163"/>
          </a:xfrm>
          <a:prstGeom prst="rect">
            <a:avLst/>
          </a:prstGeom>
        </p:spPr>
      </p:pic>
    </p:spTree>
    <p:extLst>
      <p:ext uri="{BB962C8B-B14F-4D97-AF65-F5344CB8AC3E}">
        <p14:creationId xmlns:p14="http://schemas.microsoft.com/office/powerpoint/2010/main" val="3630276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3200" dirty="0"/>
              <a:t>II. Current State of OCR Technology</a:t>
            </a:r>
          </a:p>
        </p:txBody>
      </p:sp>
      <p:sp>
        <p:nvSpPr>
          <p:cNvPr id="3" name="Content Placeholder 2"/>
          <p:cNvSpPr>
            <a:spLocks noGrp="1"/>
          </p:cNvSpPr>
          <p:nvPr>
            <p:ph idx="1"/>
          </p:nvPr>
        </p:nvSpPr>
        <p:spPr/>
        <p:txBody>
          <a:bodyPr>
            <a:normAutofit fontScale="85000" lnSpcReduction="20000"/>
          </a:bodyPr>
          <a:lstStyle/>
          <a:p>
            <a:pPr marL="0" indent="0">
              <a:buNone/>
            </a:pPr>
            <a:r>
              <a:rPr lang="en-US" dirty="0"/>
              <a:t>It’s important to remember that OCR technology unlocks the use of many applications related to OCR. Here are a few:</a:t>
            </a:r>
          </a:p>
          <a:p>
            <a:r>
              <a:rPr lang="en-US" dirty="0"/>
              <a:t>Document classification. Software examines documents to determine their type such as invoice, letter, legal document. </a:t>
            </a:r>
          </a:p>
          <a:p>
            <a:pPr lvl="1"/>
            <a:r>
              <a:rPr lang="en-US" dirty="0"/>
              <a:t>Used in “digital mailroom” applications. Scan everything, then email it or attach it to an electronic workflow routing system.</a:t>
            </a:r>
          </a:p>
          <a:p>
            <a:pPr lvl="1"/>
            <a:r>
              <a:rPr lang="en-US" dirty="0"/>
              <a:t>Rapid detection of “actionable information.” Example, an important legal document is received in the mail room but takes three days for the company to act upon this crucially important information.  (Illustration) </a:t>
            </a:r>
          </a:p>
        </p:txBody>
      </p:sp>
    </p:spTree>
    <p:extLst>
      <p:ext uri="{BB962C8B-B14F-4D97-AF65-F5344CB8AC3E}">
        <p14:creationId xmlns:p14="http://schemas.microsoft.com/office/powerpoint/2010/main" val="3597791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3200" dirty="0"/>
              <a:t>II. Current State of OCR Technology</a:t>
            </a:r>
          </a:p>
        </p:txBody>
      </p:sp>
      <p:sp>
        <p:nvSpPr>
          <p:cNvPr id="3" name="Content Placeholder 2"/>
          <p:cNvSpPr>
            <a:spLocks noGrp="1"/>
          </p:cNvSpPr>
          <p:nvPr>
            <p:ph idx="1"/>
          </p:nvPr>
        </p:nvSpPr>
        <p:spPr>
          <a:xfrm>
            <a:off x="457200" y="1600200"/>
            <a:ext cx="4038600" cy="4525963"/>
          </a:xfrm>
        </p:spPr>
        <p:txBody>
          <a:bodyPr>
            <a:normAutofit fontScale="92500" lnSpcReduction="20000"/>
          </a:bodyPr>
          <a:lstStyle/>
          <a:p>
            <a:pPr marL="0" indent="0">
              <a:buNone/>
            </a:pPr>
            <a:r>
              <a:rPr lang="en-US" dirty="0"/>
              <a:t>More Related Applications:</a:t>
            </a:r>
          </a:p>
          <a:p>
            <a:r>
              <a:rPr lang="en-US" dirty="0"/>
              <a:t>Automatic indexing. Assign metadata and filenames to documents based upon their content.</a:t>
            </a:r>
          </a:p>
          <a:p>
            <a:pPr lvl="1"/>
            <a:r>
              <a:rPr lang="en-US" dirty="0"/>
              <a:t>For example, in this document extract the author’s name and add this to filename.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1600" y="1600200"/>
            <a:ext cx="3429000" cy="4525963"/>
          </a:xfrm>
          <a:prstGeom prst="rect">
            <a:avLst/>
          </a:prstGeom>
          <a:ln>
            <a:solidFill>
              <a:schemeClr val="tx1"/>
            </a:solidFill>
          </a:ln>
        </p:spPr>
      </p:pic>
    </p:spTree>
    <p:extLst>
      <p:ext uri="{BB962C8B-B14F-4D97-AF65-F5344CB8AC3E}">
        <p14:creationId xmlns:p14="http://schemas.microsoft.com/office/powerpoint/2010/main" val="4222999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normAutofit/>
          </a:bodyPr>
          <a:lstStyle/>
          <a:p>
            <a:r>
              <a:rPr lang="en-US" sz="3200" dirty="0"/>
              <a:t>II. Current State of OCR Technology</a:t>
            </a:r>
          </a:p>
        </p:txBody>
      </p:sp>
      <p:sp>
        <p:nvSpPr>
          <p:cNvPr id="3" name="Content Placeholder 2"/>
          <p:cNvSpPr>
            <a:spLocks noGrp="1"/>
          </p:cNvSpPr>
          <p:nvPr>
            <p:ph idx="1"/>
          </p:nvPr>
        </p:nvSpPr>
        <p:spPr/>
        <p:txBody>
          <a:bodyPr>
            <a:normAutofit fontScale="85000" lnSpcReduction="20000"/>
          </a:bodyPr>
          <a:lstStyle/>
          <a:p>
            <a:r>
              <a:rPr lang="en-US" dirty="0"/>
              <a:t>Automated invoice processing. Software determines vendor, business unit, line items, assignment of general ledger account #, and provides 2 way and 3 way matching for the AP process. </a:t>
            </a:r>
            <a:r>
              <a:rPr lang="en-US" b="1" dirty="0"/>
              <a:t>This is easily becoming the most popular product for the major OCR vendors.</a:t>
            </a:r>
          </a:p>
          <a:p>
            <a:r>
              <a:rPr lang="en-US" dirty="0"/>
              <a:t>Semantic (meaning) based analysis of content. Software uses meaning of words to assign metadata indexes or extract meaning. Example, “fire a cannon” versus “fire a clay pot.” This is increasingly required in the world of Big Data where organizations need to locate documents more accurately and reduce the volume of documents returned in a search such as doing the legal discovery process. </a:t>
            </a:r>
          </a:p>
          <a:p>
            <a:endParaRPr lang="en-US" dirty="0"/>
          </a:p>
        </p:txBody>
      </p:sp>
    </p:spTree>
    <p:extLst>
      <p:ext uri="{BB962C8B-B14F-4D97-AF65-F5344CB8AC3E}">
        <p14:creationId xmlns:p14="http://schemas.microsoft.com/office/powerpoint/2010/main" val="151559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a:t>III. Challenges with OCR Technology</a:t>
            </a:r>
            <a:br>
              <a:rPr lang="en-US" dirty="0"/>
            </a:b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dirty="0"/>
              <a:t>OCR Performance</a:t>
            </a:r>
          </a:p>
          <a:p>
            <a:pPr marL="914400" lvl="1" indent="-514350">
              <a:buFont typeface="+mj-lt"/>
              <a:buAutoNum type="alphaUcPeriod"/>
            </a:pPr>
            <a:r>
              <a:rPr lang="en-US" dirty="0"/>
              <a:t>Tradeoff of adding CPU cores for </a:t>
            </a:r>
            <a:r>
              <a:rPr lang="en-US" dirty="0" smtClean="0"/>
              <a:t>performance versus licensing cost </a:t>
            </a:r>
            <a:endParaRPr lang="en-US" dirty="0"/>
          </a:p>
          <a:p>
            <a:pPr marL="1314450" lvl="2" indent="-514350">
              <a:buFont typeface="+mj-lt"/>
              <a:buAutoNum type="alphaLcParenR"/>
            </a:pPr>
            <a:r>
              <a:rPr lang="en-US" dirty="0"/>
              <a:t>Commercial products are multi-threaded and scale linearly</a:t>
            </a:r>
          </a:p>
          <a:p>
            <a:pPr marL="1314450" lvl="2" indent="-514350">
              <a:buFont typeface="+mj-lt"/>
              <a:buAutoNum type="alphaLcParenR"/>
            </a:pPr>
            <a:r>
              <a:rPr lang="en-US" dirty="0"/>
              <a:t>Approximate baseline performance value is ½ second per page on a standard quad-core Windows computer</a:t>
            </a:r>
          </a:p>
          <a:p>
            <a:pPr marL="914400" lvl="1" indent="-514350">
              <a:buFont typeface="+mj-lt"/>
              <a:buAutoNum type="alphaUcPeriod"/>
            </a:pPr>
            <a:r>
              <a:rPr lang="en-US" dirty="0" smtClean="0"/>
              <a:t>Second tradeoff: Increasing </a:t>
            </a:r>
            <a:r>
              <a:rPr lang="en-US" dirty="0"/>
              <a:t>OCR quality at the expense of increasing processing time</a:t>
            </a:r>
          </a:p>
          <a:p>
            <a:pPr marL="1314450" lvl="2" indent="-514350">
              <a:buFont typeface="+mj-lt"/>
              <a:buAutoNum type="alphaLcParenR"/>
            </a:pPr>
            <a:r>
              <a:rPr lang="en-US" dirty="0"/>
              <a:t>On the order of 50% difference</a:t>
            </a:r>
          </a:p>
        </p:txBody>
      </p:sp>
    </p:spTree>
    <p:extLst>
      <p:ext uri="{BB962C8B-B14F-4D97-AF65-F5344CB8AC3E}">
        <p14:creationId xmlns:p14="http://schemas.microsoft.com/office/powerpoint/2010/main" val="3030296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a:t>III. Challenges with OCR Technology</a:t>
            </a:r>
            <a:br>
              <a:rPr lang="en-US" dirty="0"/>
            </a:b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dirty="0"/>
              <a:t>OCR Performance</a:t>
            </a:r>
          </a:p>
          <a:p>
            <a:pPr marL="914400" lvl="1" indent="-514350">
              <a:buFont typeface="+mj-lt"/>
              <a:buAutoNum type="alphaUcPeriod" startAt="3"/>
            </a:pPr>
            <a:r>
              <a:rPr lang="en-US" dirty="0"/>
              <a:t>Small fonts can pose challenges for acceptable OCR. Be sure to test with different </a:t>
            </a:r>
            <a:r>
              <a:rPr lang="en-US" dirty="0" smtClean="0"/>
              <a:t>engines.</a:t>
            </a:r>
            <a:endParaRPr lang="en-US" dirty="0"/>
          </a:p>
          <a:p>
            <a:pPr marL="514350" indent="-514350">
              <a:buFont typeface="+mj-lt"/>
              <a:buAutoNum type="arabicPeriod"/>
            </a:pPr>
            <a:r>
              <a:rPr lang="en-US" dirty="0"/>
              <a:t>Pricing of Commercial Products Can Be Daunting</a:t>
            </a:r>
          </a:p>
          <a:p>
            <a:pPr marL="914400" lvl="1" indent="-514350">
              <a:buFont typeface="+mj-lt"/>
              <a:buAutoNum type="alphaUcPeriod"/>
            </a:pPr>
            <a:r>
              <a:rPr lang="en-US" dirty="0"/>
              <a:t>Price models run from per page per year, to per page (for one time backlog conversion), to CPU based (as many as you can run on a single CPU)</a:t>
            </a:r>
          </a:p>
        </p:txBody>
      </p:sp>
    </p:spTree>
    <p:extLst>
      <p:ext uri="{BB962C8B-B14F-4D97-AF65-F5344CB8AC3E}">
        <p14:creationId xmlns:p14="http://schemas.microsoft.com/office/powerpoint/2010/main" val="3371634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a:t>III. Challenges with OCR Technology</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pPr marL="514350" indent="-514350">
              <a:buFont typeface="+mj-lt"/>
              <a:buAutoNum type="arabicPeriod" startAt="3"/>
            </a:pPr>
            <a:r>
              <a:rPr lang="en-US" dirty="0"/>
              <a:t>Application Development Challenges</a:t>
            </a:r>
          </a:p>
          <a:p>
            <a:pPr marL="914400" lvl="1" indent="-514350">
              <a:buFont typeface="+mj-lt"/>
              <a:buAutoNum type="alphaUcPeriod"/>
            </a:pPr>
            <a:r>
              <a:rPr lang="en-US" dirty="0"/>
              <a:t>OCR engine API’s are complex. Developing an OCR application can be daunting. </a:t>
            </a:r>
          </a:p>
          <a:p>
            <a:pPr marL="914400" lvl="1" indent="-514350">
              <a:buFont typeface="+mj-lt"/>
              <a:buAutoNum type="alphaUcPeriod"/>
            </a:pPr>
            <a:r>
              <a:rPr lang="en-US" dirty="0"/>
              <a:t>Limited knowledge base for outsourcing drives development to the engine vendors and their partners. </a:t>
            </a:r>
          </a:p>
          <a:p>
            <a:pPr marL="514350" indent="-514350">
              <a:buFont typeface="+mj-lt"/>
              <a:buAutoNum type="arabicPeriod" startAt="3"/>
            </a:pPr>
            <a:r>
              <a:rPr lang="en-US" dirty="0"/>
              <a:t>Unique PDF Requirement for PDF/UA is proving extremely challenging</a:t>
            </a:r>
          </a:p>
          <a:p>
            <a:pPr marL="514350" indent="-514350">
              <a:buFont typeface="+mj-lt"/>
              <a:buAutoNum type="arabicPeriod" startAt="3"/>
            </a:pPr>
            <a:r>
              <a:rPr lang="en-US" dirty="0"/>
              <a:t>Template development for automatic extraction requires deep product level knowledge.</a:t>
            </a:r>
          </a:p>
          <a:p>
            <a:pPr marL="914400" lvl="1" indent="-514350">
              <a:buFont typeface="+mj-lt"/>
              <a:buAutoNum type="alphaUcPeriod"/>
            </a:pPr>
            <a:r>
              <a:rPr lang="en-US" dirty="0"/>
              <a:t>Automated “wizards” reduce the time but still build templates behind the scenes. These then must be edited in order to accomplish the initial extraction goal. </a:t>
            </a:r>
          </a:p>
        </p:txBody>
      </p:sp>
    </p:spTree>
    <p:extLst>
      <p:ext uri="{BB962C8B-B14F-4D97-AF65-F5344CB8AC3E}">
        <p14:creationId xmlns:p14="http://schemas.microsoft.com/office/powerpoint/2010/main" val="2874465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a:t>IV. Current Trends in OCR</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pPr marL="514350" indent="-514350">
              <a:buFont typeface="+mj-lt"/>
              <a:buAutoNum type="arabicPeriod"/>
            </a:pPr>
            <a:r>
              <a:rPr lang="en-US" dirty="0"/>
              <a:t>PDF, especially PDF/A image over text with the searchable layer underneath is becoming the export standard.</a:t>
            </a:r>
          </a:p>
          <a:p>
            <a:pPr marL="514350" indent="-514350">
              <a:buFont typeface="+mj-lt"/>
              <a:buAutoNum type="arabicPeriod"/>
            </a:pPr>
            <a:r>
              <a:rPr lang="en-US" dirty="0"/>
              <a:t>Larger volumes of documents (consider archival projects) are driving automatic classification and extraction technologies.</a:t>
            </a:r>
          </a:p>
          <a:p>
            <a:pPr marL="514350" indent="-514350">
              <a:buFont typeface="+mj-lt"/>
              <a:buAutoNum type="arabicPeriod"/>
            </a:pPr>
            <a:r>
              <a:rPr lang="en-US" dirty="0"/>
              <a:t>Automatic language detection is becoming universal among OCR vendors.</a:t>
            </a:r>
          </a:p>
          <a:p>
            <a:pPr marL="514350" indent="-514350">
              <a:buFont typeface="+mj-lt"/>
              <a:buAutoNum type="arabicPeriod"/>
            </a:pPr>
            <a:r>
              <a:rPr lang="en-US" dirty="0"/>
              <a:t>OCR technology will always have limits and can never fix poor quality images.</a:t>
            </a:r>
          </a:p>
          <a:p>
            <a:pPr marL="914400" lvl="1" indent="-514350">
              <a:buFont typeface="+mj-lt"/>
              <a:buAutoNum type="alphaUcPeriod"/>
            </a:pPr>
            <a:r>
              <a:rPr lang="en-US" dirty="0"/>
              <a:t>Fuzzy techniques are being used such as database lookup to improve results. </a:t>
            </a:r>
          </a:p>
        </p:txBody>
      </p:sp>
    </p:spTree>
    <p:extLst>
      <p:ext uri="{BB962C8B-B14F-4D97-AF65-F5344CB8AC3E}">
        <p14:creationId xmlns:p14="http://schemas.microsoft.com/office/powerpoint/2010/main" val="1944290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IV. Current Trends in OCR</a:t>
            </a:r>
          </a:p>
        </p:txBody>
      </p:sp>
      <p:sp>
        <p:nvSpPr>
          <p:cNvPr id="3" name="Content Placeholder 2"/>
          <p:cNvSpPr>
            <a:spLocks noGrp="1"/>
          </p:cNvSpPr>
          <p:nvPr>
            <p:ph idx="1"/>
          </p:nvPr>
        </p:nvSpPr>
        <p:spPr/>
        <p:txBody>
          <a:bodyPr vert="horz" lIns="91440" tIns="45720" rIns="91440" bIns="45720" rtlCol="0" anchor="t">
            <a:normAutofit fontScale="70000" lnSpcReduction="20000"/>
          </a:bodyPr>
          <a:lstStyle/>
          <a:p>
            <a:pPr marL="514350" indent="-514350">
              <a:buFont typeface="+mj-lt"/>
              <a:buAutoNum type="arabicPeriod" startAt="4"/>
            </a:pPr>
            <a:r>
              <a:rPr lang="en-US" dirty="0"/>
              <a:t>Lexical analysis to extract meaning (semantics) is an emerging trend</a:t>
            </a:r>
          </a:p>
          <a:p>
            <a:pPr marL="514350" indent="-514350">
              <a:buFont typeface="+mj-lt"/>
              <a:buAutoNum type="arabicPeriod" startAt="4"/>
            </a:pPr>
            <a:r>
              <a:rPr lang="en-US" dirty="0"/>
              <a:t>Huge development of OCR applications is happening based upon existing OCR technology versus new low-level OCR engines (SDK)</a:t>
            </a:r>
          </a:p>
          <a:p>
            <a:pPr marL="914400" lvl="1" indent="-514350">
              <a:buFont typeface="+mj-lt"/>
              <a:buAutoNum type="alphaUcPeriod"/>
            </a:pPr>
            <a:r>
              <a:rPr lang="en-US" dirty="0"/>
              <a:t>Natural Language Text Processing </a:t>
            </a:r>
            <a:r>
              <a:rPr lang="en-US" dirty="0" smtClean="0"/>
              <a:t>(ABBYY Compreno</a:t>
            </a:r>
            <a:r>
              <a:rPr lang="en-US" dirty="0"/>
              <a:t>); uses a combination of </a:t>
            </a:r>
            <a:r>
              <a:rPr lang="en-US" dirty="0" smtClean="0"/>
              <a:t>semantics</a:t>
            </a:r>
            <a:r>
              <a:rPr lang="en-US" dirty="0"/>
              <a:t>, </a:t>
            </a:r>
            <a:r>
              <a:rPr lang="en-US" dirty="0" smtClean="0"/>
              <a:t>syntax</a:t>
            </a:r>
            <a:r>
              <a:rPr lang="en-US" dirty="0"/>
              <a:t>, and </a:t>
            </a:r>
            <a:r>
              <a:rPr lang="en-US" dirty="0" smtClean="0"/>
              <a:t>statistics </a:t>
            </a:r>
            <a:r>
              <a:rPr lang="en-US" dirty="0"/>
              <a:t>to determine the true “’meaning” of a document. </a:t>
            </a:r>
          </a:p>
          <a:p>
            <a:pPr marL="914400" lvl="1" indent="-514350">
              <a:buFont typeface="+mj-lt"/>
              <a:buAutoNum type="alphaUcPeriod"/>
            </a:pPr>
            <a:r>
              <a:rPr lang="en-US" dirty="0"/>
              <a:t>Template </a:t>
            </a:r>
            <a:r>
              <a:rPr lang="en-US" dirty="0" smtClean="0"/>
              <a:t>“training</a:t>
            </a:r>
            <a:r>
              <a:rPr lang="en-US" dirty="0"/>
              <a:t>,”, everything is done with the software operator in mind (auto-templating</a:t>
            </a:r>
            <a:r>
              <a:rPr lang="en-US" dirty="0" smtClean="0"/>
              <a:t>).</a:t>
            </a:r>
            <a:endParaRPr lang="en-US" dirty="0"/>
          </a:p>
          <a:p>
            <a:pPr marL="914400" lvl="1" indent="-514350">
              <a:buFont typeface="+mj-lt"/>
              <a:buAutoNum type="alphaUcPeriod"/>
            </a:pPr>
            <a:r>
              <a:rPr lang="en-US" dirty="0" smtClean="0"/>
              <a:t>Automated classification</a:t>
            </a:r>
            <a:r>
              <a:rPr lang="en-US" dirty="0"/>
              <a:t>, determining document </a:t>
            </a:r>
            <a:r>
              <a:rPr lang="en-US" dirty="0" smtClean="0"/>
              <a:t>types.</a:t>
            </a:r>
            <a:endParaRPr lang="en-US" dirty="0"/>
          </a:p>
          <a:p>
            <a:pPr marL="914400" lvl="1" indent="-514350">
              <a:buFont typeface="+mj-lt"/>
              <a:buAutoNum type="alphaUcPeriod"/>
            </a:pPr>
            <a:r>
              <a:rPr lang="en-US" dirty="0"/>
              <a:t>Repeat Point: Application vs. SDK; although we do receive a small number of “engine” requests, it seems as though people want to use the full power of the application due to number of advanced features (zoom to zone, image preview, training, etc</a:t>
            </a:r>
            <a:r>
              <a:rPr lang="en-US" dirty="0" smtClean="0"/>
              <a:t>.).</a:t>
            </a:r>
            <a:endParaRPr lang="en-US" dirty="0"/>
          </a:p>
          <a:p>
            <a:pPr marL="914400" lvl="1" indent="-514350">
              <a:buFont typeface="+mj-lt"/>
              <a:buAutoNum type="alphaUcPeriod"/>
            </a:pPr>
            <a:r>
              <a:rPr lang="en-US" dirty="0"/>
              <a:t>Cloud-based processing with access by web service </a:t>
            </a:r>
            <a:r>
              <a:rPr lang="en-US" dirty="0" smtClean="0"/>
              <a:t>interface.</a:t>
            </a:r>
            <a:endParaRPr lang="en-US" dirty="0"/>
          </a:p>
        </p:txBody>
      </p:sp>
    </p:spTree>
    <p:extLst>
      <p:ext uri="{BB962C8B-B14F-4D97-AF65-F5344CB8AC3E}">
        <p14:creationId xmlns:p14="http://schemas.microsoft.com/office/powerpoint/2010/main" val="1835646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IV. Current Trends in OCR</a:t>
            </a:r>
          </a:p>
        </p:txBody>
      </p:sp>
      <p:sp>
        <p:nvSpPr>
          <p:cNvPr id="3" name="Content Placeholder 2"/>
          <p:cNvSpPr>
            <a:spLocks noGrp="1"/>
          </p:cNvSpPr>
          <p:nvPr>
            <p:ph idx="1"/>
          </p:nvPr>
        </p:nvSpPr>
        <p:spPr/>
        <p:txBody>
          <a:bodyPr>
            <a:normAutofit lnSpcReduction="10000"/>
          </a:bodyPr>
          <a:lstStyle/>
          <a:p>
            <a:pPr marL="514350" indent="-514350">
              <a:buFont typeface="+mj-lt"/>
              <a:buAutoNum type="arabicPeriod" startAt="6"/>
            </a:pPr>
            <a:r>
              <a:rPr lang="en-US" dirty="0"/>
              <a:t>Ongoing migration from premise-based systems to servers running in the cloud.</a:t>
            </a:r>
          </a:p>
          <a:p>
            <a:pPr marL="914400" lvl="1" indent="-514350">
              <a:buFont typeface="+mj-lt"/>
              <a:buAutoNum type="alphaUcPeriod"/>
            </a:pPr>
            <a:r>
              <a:rPr lang="en-US" dirty="0"/>
              <a:t>Vendors such Amazon and Microsoft Azure</a:t>
            </a:r>
          </a:p>
          <a:p>
            <a:pPr marL="914400" lvl="1" indent="-514350">
              <a:buFont typeface="+mj-lt"/>
              <a:buAutoNum type="alphaUcPeriod"/>
            </a:pPr>
            <a:r>
              <a:rPr lang="en-US" dirty="0"/>
              <a:t>Makes it very easy to increase the capacity of the OCR server. </a:t>
            </a:r>
          </a:p>
          <a:p>
            <a:pPr marL="914400" lvl="1" indent="-514350">
              <a:buFont typeface="+mj-lt"/>
              <a:buAutoNum type="alphaUcPeriod"/>
            </a:pPr>
            <a:r>
              <a:rPr lang="en-US" dirty="0"/>
              <a:t>No charges when the servers aren’t running except to pay for the static IP.</a:t>
            </a:r>
          </a:p>
          <a:p>
            <a:pPr marL="914400" lvl="1" indent="-514350">
              <a:buFont typeface="+mj-lt"/>
              <a:buAutoNum type="alphaUcPeriod"/>
            </a:pPr>
            <a:r>
              <a:rPr lang="en-US" dirty="0"/>
              <a:t>Most universities already operate in virtual environment anyway, this just moves the infrastructure. </a:t>
            </a:r>
          </a:p>
        </p:txBody>
      </p:sp>
    </p:spTree>
    <p:extLst>
      <p:ext uri="{BB962C8B-B14F-4D97-AF65-F5344CB8AC3E}">
        <p14:creationId xmlns:p14="http://schemas.microsoft.com/office/powerpoint/2010/main" val="784881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a:t>V. Brief Recap</a:t>
            </a:r>
            <a:br>
              <a:rPr lang="en-US" dirty="0"/>
            </a:br>
            <a:endParaRPr lang="en-US" dirty="0"/>
          </a:p>
        </p:txBody>
      </p:sp>
      <p:sp>
        <p:nvSpPr>
          <p:cNvPr id="3" name="Content Placeholder 2"/>
          <p:cNvSpPr>
            <a:spLocks noGrp="1"/>
          </p:cNvSpPr>
          <p:nvPr>
            <p:ph idx="1"/>
          </p:nvPr>
        </p:nvSpPr>
        <p:spPr/>
        <p:txBody>
          <a:bodyPr vert="horz" lIns="91440" tIns="45720" rIns="91440" bIns="45720" rtlCol="0" anchor="t">
            <a:normAutofit fontScale="85000" lnSpcReduction="20000"/>
          </a:bodyPr>
          <a:lstStyle/>
          <a:p>
            <a:pPr marL="0" indent="0">
              <a:buNone/>
            </a:pPr>
            <a:r>
              <a:rPr lang="en-US" u="sng" dirty="0"/>
              <a:t>Key Points:</a:t>
            </a:r>
          </a:p>
          <a:p>
            <a:r>
              <a:rPr lang="en-US" dirty="0"/>
              <a:t>Small set of commercial OCR vendors offer mature products in SDK form with many new applications emerging based upon the technology.</a:t>
            </a:r>
          </a:p>
          <a:p>
            <a:r>
              <a:rPr lang="en-US" dirty="0"/>
              <a:t>As of yet there are limited open source options.</a:t>
            </a:r>
          </a:p>
          <a:p>
            <a:r>
              <a:rPr lang="en-US" dirty="0"/>
              <a:t>Key trend is toward the development of advanced OCR applications using the commercial SDK engines.</a:t>
            </a:r>
          </a:p>
          <a:p>
            <a:r>
              <a:rPr lang="en-US" dirty="0"/>
              <a:t>Trend towards advanced classification (digital mailroom) and semantic technology (determination of meaning).</a:t>
            </a:r>
          </a:p>
          <a:p>
            <a:r>
              <a:rPr lang="en-US" dirty="0"/>
              <a:t>Trend towards cloud-based processing</a:t>
            </a:r>
          </a:p>
          <a:p>
            <a:endParaRPr lang="en-US" dirty="0"/>
          </a:p>
          <a:p>
            <a:endParaRPr lang="en-US" dirty="0"/>
          </a:p>
        </p:txBody>
      </p:sp>
    </p:spTree>
    <p:extLst>
      <p:ext uri="{BB962C8B-B14F-4D97-AF65-F5344CB8AC3E}">
        <p14:creationId xmlns:p14="http://schemas.microsoft.com/office/powerpoint/2010/main" val="2588597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Thank You!</a:t>
            </a:r>
          </a:p>
        </p:txBody>
      </p:sp>
      <p:pic>
        <p:nvPicPr>
          <p:cNvPr id="7" name="Content Placeholder 6" descr="sphereonly.png"/>
          <p:cNvPicPr>
            <a:picLocks noGrp="1" noChangeAspect="1"/>
          </p:cNvPicPr>
          <p:nvPr>
            <p:ph idx="1"/>
          </p:nvPr>
        </p:nvPicPr>
        <p:blipFill>
          <a:blip r:embed="rId3" cstate="print"/>
          <a:stretch>
            <a:fillRect/>
          </a:stretch>
        </p:blipFill>
        <p:spPr>
          <a:xfrm>
            <a:off x="3352800" y="3810000"/>
            <a:ext cx="2668878" cy="2209800"/>
          </a:xfrm>
        </p:spPr>
      </p:pic>
      <p:sp>
        <p:nvSpPr>
          <p:cNvPr id="2" name="TextBox 1"/>
          <p:cNvSpPr txBox="1"/>
          <p:nvPr/>
        </p:nvSpPr>
        <p:spPr>
          <a:xfrm>
            <a:off x="457200" y="1905000"/>
            <a:ext cx="8229600" cy="1754326"/>
          </a:xfrm>
          <a:prstGeom prst="rect">
            <a:avLst/>
          </a:prstGeom>
          <a:noFill/>
        </p:spPr>
        <p:txBody>
          <a:bodyPr wrap="square" rtlCol="0">
            <a:spAutoFit/>
          </a:bodyPr>
          <a:lstStyle/>
          <a:p>
            <a:r>
              <a:rPr lang="en-US" u="sng" dirty="0"/>
              <a:t>Refer to the Latest Schedule for our Upcoming Demonstrations:</a:t>
            </a:r>
          </a:p>
          <a:p>
            <a:r>
              <a:rPr lang="en-US" dirty="0"/>
              <a:t>10:45 am:   ABBYY FlexiCapture (Intelligent Data Extraction OCR/IMR/OMR)</a:t>
            </a:r>
          </a:p>
          <a:p>
            <a:r>
              <a:rPr lang="en-US" dirty="0"/>
              <a:t>11:15 am:  ABBYY Recognition Server (Server Based OCR)</a:t>
            </a:r>
          </a:p>
          <a:p>
            <a:endParaRPr lang="en-US" dirty="0"/>
          </a:p>
          <a:p>
            <a:r>
              <a:rPr lang="en-US" dirty="0"/>
              <a:t>My Contact Information:  </a:t>
            </a:r>
            <a:r>
              <a:rPr lang="en-US" dirty="0">
                <a:hlinkClick r:id="rId4"/>
              </a:rPr>
              <a:t>jim@ufcinc.com</a:t>
            </a:r>
            <a:r>
              <a:rPr lang="en-US" dirty="0"/>
              <a:t>   </a:t>
            </a:r>
            <a:r>
              <a:rPr lang="en-US" b="1" dirty="0">
                <a:hlinkClick r:id="rId5"/>
              </a:rPr>
              <a:t>https://www.ufcinc.com</a:t>
            </a:r>
            <a:r>
              <a:rPr lang="en-US" b="1" dirty="0"/>
              <a:t> </a:t>
            </a:r>
            <a:r>
              <a:rPr lang="en-US" dirty="0"/>
              <a:t/>
            </a:r>
            <a:br>
              <a:rPr lang="en-US" dirty="0"/>
            </a:br>
            <a:r>
              <a:rPr lang="en-US" dirty="0"/>
              <a:t>Phone: (248) 447-0102</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Conference Goals</a:t>
            </a:r>
          </a:p>
        </p:txBody>
      </p:sp>
      <p:sp>
        <p:nvSpPr>
          <p:cNvPr id="5" name="Content Placeholder 4"/>
          <p:cNvSpPr>
            <a:spLocks noGrp="1"/>
          </p:cNvSpPr>
          <p:nvPr>
            <p:ph sz="half" idx="1"/>
          </p:nvPr>
        </p:nvSpPr>
        <p:spPr>
          <a:xfrm>
            <a:off x="457200" y="1600200"/>
            <a:ext cx="8382000" cy="4525963"/>
          </a:xfrm>
        </p:spPr>
        <p:txBody>
          <a:bodyPr>
            <a:normAutofit fontScale="77500" lnSpcReduction="20000"/>
          </a:bodyPr>
          <a:lstStyle/>
          <a:p>
            <a:pPr marL="0" indent="0">
              <a:buNone/>
            </a:pPr>
            <a:r>
              <a:rPr lang="en-US" dirty="0"/>
              <a:t>Unique Needs of the University Community (as pertaining to OCR Solutions):</a:t>
            </a:r>
          </a:p>
          <a:p>
            <a:r>
              <a:rPr lang="en-US" dirty="0"/>
              <a:t> Various ongoing digitization initiatives of books, periodicals, and other materials (project by project basis) such as the Spartan Archive Project. </a:t>
            </a:r>
          </a:p>
          <a:p>
            <a:pPr lvl="0"/>
            <a:r>
              <a:rPr lang="en-US" dirty="0"/>
              <a:t>Ongoing need to index documents in order to provide for full text search as well as keyword search from the metadata indexes</a:t>
            </a:r>
          </a:p>
          <a:p>
            <a:pPr lvl="0"/>
            <a:r>
              <a:rPr lang="en-US" dirty="0"/>
              <a:t>Proliferation of technology makes it difficult for digital practitioners in the university to keep up with available software products in the OCR market. </a:t>
            </a:r>
          </a:p>
          <a:p>
            <a:pPr lvl="0"/>
            <a:r>
              <a:rPr lang="en-US" dirty="0"/>
              <a:t>Needs to preserve information that only exists in digital form by transferring to some other format, the Digital Curation Planning Project.    </a:t>
            </a:r>
            <a:r>
              <a:rPr lang="en-US" i="1" dirty="0"/>
              <a:t>PDF/A speaks to this need.</a:t>
            </a:r>
            <a:endParaRPr lang="en-US" dirty="0"/>
          </a:p>
          <a:p>
            <a:pPr marL="0" indent="0">
              <a:buNone/>
            </a:pPr>
            <a:r>
              <a:rPr lang="en-US" dirty="0"/>
              <a:t> The Michigan Digital Practitioners provides a place for people to share success stories in the area. </a:t>
            </a: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5A395F434FCFF4AB29738189A0F414C" ma:contentTypeVersion="3" ma:contentTypeDescription="Create a new document." ma:contentTypeScope="" ma:versionID="3038c526825a209794f688dc9b487fe5">
  <xsd:schema xmlns:xsd="http://www.w3.org/2001/XMLSchema" xmlns:xs="http://www.w3.org/2001/XMLSchema" xmlns:p="http://schemas.microsoft.com/office/2006/metadata/properties" xmlns:ns2="10a4f6f6-886c-40f3-ab77-daad57c20c9a" xmlns:ns3="29ec5861-a56a-42d5-97ad-895249d44339" targetNamespace="http://schemas.microsoft.com/office/2006/metadata/properties" ma:root="true" ma:fieldsID="097fa6f8c0f420b553b16d1bab2b7514" ns2:_="" ns3:_="">
    <xsd:import namespace="10a4f6f6-886c-40f3-ab77-daad57c20c9a"/>
    <xsd:import namespace="29ec5861-a56a-42d5-97ad-895249d44339"/>
    <xsd:element name="properties">
      <xsd:complexType>
        <xsd:sequence>
          <xsd:element name="documentManagement">
            <xsd:complexType>
              <xsd:all>
                <xsd:element ref="ns2:_dlc_DocId" minOccurs="0"/>
                <xsd:element ref="ns2:_dlc_DocIdUrl" minOccurs="0"/>
                <xsd:element ref="ns2:_dlc_DocIdPersistId"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0a4f6f6-886c-40f3-ab77-daad57c20c9a"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29ec5861-a56a-42d5-97ad-895249d44339"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description=""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dlc_DocId xmlns="10a4f6f6-886c-40f3-ab77-daad57c20c9a">6P3TJWQ6P45U-21-5761</_dlc_DocId>
    <_dlc_DocIdUrl xmlns="10a4f6f6-886c-40f3-ab77-daad57c20c9a">
      <Url>https://ufcinconline.sharepoint.com/Product_Planning/_layouts/15/DocIdRedir.aspx?ID=6P3TJWQ6P45U-21-5761</Url>
      <Description>6P3TJWQ6P45U-21-5761</Description>
    </_dlc_DocId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5CD04162-2E58-42B5-88CC-CA679017391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0a4f6f6-886c-40f3-ab77-daad57c20c9a"/>
    <ds:schemaRef ds:uri="29ec5861-a56a-42d5-97ad-895249d443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F15C43C-856E-447E-A058-C27E8F71F4B7}">
  <ds:schemaRefs>
    <ds:schemaRef ds:uri="10a4f6f6-886c-40f3-ab77-daad57c20c9a"/>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schemas.microsoft.com/office/2006/metadata/properties"/>
    <ds:schemaRef ds:uri="29ec5861-a56a-42d5-97ad-895249d44339"/>
    <ds:schemaRef ds:uri="http://www.w3.org/XML/1998/namespace"/>
    <ds:schemaRef ds:uri="http://purl.org/dc/elements/1.1/"/>
  </ds:schemaRefs>
</ds:datastoreItem>
</file>

<file path=customXml/itemProps3.xml><?xml version="1.0" encoding="utf-8"?>
<ds:datastoreItem xmlns:ds="http://schemas.openxmlformats.org/officeDocument/2006/customXml" ds:itemID="{738B99A2-D9C0-403F-8839-4D90B5864993}">
  <ds:schemaRefs>
    <ds:schemaRef ds:uri="http://schemas.microsoft.com/sharepoint/v3/contenttype/forms"/>
  </ds:schemaRefs>
</ds:datastoreItem>
</file>

<file path=customXml/itemProps4.xml><?xml version="1.0" encoding="utf-8"?>
<ds:datastoreItem xmlns:ds="http://schemas.openxmlformats.org/officeDocument/2006/customXml" ds:itemID="{C6751504-BDE8-4D71-B1D7-72208E3E453D}">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otalTime>1681</TotalTime>
  <Words>1506</Words>
  <Application>Microsoft Office PowerPoint</Application>
  <PresentationFormat>On-screen Show (4:3)</PresentationFormat>
  <Paragraphs>127</Paragraphs>
  <Slides>19</Slides>
  <Notes>7</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State of and Trends in OCR Technology</vt:lpstr>
      <vt:lpstr>Overview</vt:lpstr>
      <vt:lpstr>I. Definition of Optical Character Recognition (OCR) Software </vt:lpstr>
      <vt:lpstr>II. Current State of OCR Technology </vt:lpstr>
      <vt:lpstr>II. Current State of OCR Technology </vt:lpstr>
      <vt:lpstr>II. Current State of OCR Technology </vt:lpstr>
      <vt:lpstr>II. Current State of OCR Technology </vt:lpstr>
      <vt:lpstr>II. Current State of OCR Technology</vt:lpstr>
      <vt:lpstr>II. Current State of OCR Technology</vt:lpstr>
      <vt:lpstr>II. Current State of OCR Technology</vt:lpstr>
      <vt:lpstr>III. Challenges with OCR Technology </vt:lpstr>
      <vt:lpstr>III. Challenges with OCR Technology </vt:lpstr>
      <vt:lpstr>III. Challenges with OCR Technology </vt:lpstr>
      <vt:lpstr>IV. Current Trends in OCR </vt:lpstr>
      <vt:lpstr>IV. Current Trends in OCR</vt:lpstr>
      <vt:lpstr>IV. Current Trends in OCR</vt:lpstr>
      <vt:lpstr>V. Brief Recap </vt:lpstr>
      <vt:lpstr>Thank You!</vt:lpstr>
      <vt:lpstr>Conference Goals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Jim Hill</dc:creator>
  <cp:lastModifiedBy>Matt Schultz</cp:lastModifiedBy>
  <cp:revision>75</cp:revision>
  <cp:lastPrinted>2016-03-15T14:54:49Z</cp:lastPrinted>
  <dcterms:created xsi:type="dcterms:W3CDTF">2011-01-25T04:28:28Z</dcterms:created>
  <dcterms:modified xsi:type="dcterms:W3CDTF">2016-03-18T12:42:39Z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0x010100C5A395F434FCFF4AB29738189A0F414C</vt:lpwstr>
  </property>
  <property fmtid="{D5CDD505-2E9C-101B-9397-08002B2CF9AE}" pid="3" name="_dlc_DocIdItemGuid">
    <vt:lpwstr>b1cef750-fad7-44aa-b220-94278e87ced6</vt:lpwstr>
  </property>
</Properties>
</file>